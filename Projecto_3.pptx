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Barlow" panose="00000500000000000000" pitchFamily="2" charset="0"/>
      <p:regular r:id="rId15"/>
    </p:embeddedFont>
    <p:embeddedFont>
      <p:font typeface="Barlow Bold" panose="020B0604020202020204" charset="0"/>
      <p:regular r:id="rId16"/>
    </p:embeddedFont>
    <p:embeddedFont>
      <p:font typeface="Neo Tech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5" autoAdjust="0"/>
    <p:restoredTop sz="94622" autoAdjust="0"/>
  </p:normalViewPr>
  <p:slideViewPr>
    <p:cSldViewPr>
      <p:cViewPr varScale="1">
        <p:scale>
          <a:sx n="57" d="100"/>
          <a:sy n="57" d="100"/>
        </p:scale>
        <p:origin x="69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AO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46D2C-54B2-4539-9851-D44EAAB97416}" type="datetimeFigureOut">
              <a:rPr lang="pt-AO" smtClean="0"/>
              <a:t>20/02/2026</a:t>
            </a:fld>
            <a:endParaRPr lang="pt-AO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AO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AO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AO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97246-1728-4C3E-9FB1-873B0EA22328}" type="slidenum">
              <a:rPr lang="pt-AO" smtClean="0"/>
              <a:t>‹nº›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284026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AO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97246-1728-4C3E-9FB1-873B0EA22328}" type="slidenum">
              <a:rPr lang="pt-AO" smtClean="0"/>
              <a:t>1</a:t>
            </a:fld>
            <a:endParaRPr lang="pt-AO"/>
          </a:p>
        </p:txBody>
      </p:sp>
    </p:spTree>
    <p:extLst>
      <p:ext uri="{BB962C8B-B14F-4D97-AF65-F5344CB8AC3E}">
        <p14:creationId xmlns:p14="http://schemas.microsoft.com/office/powerpoint/2010/main" val="1219507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664684"/>
            <a:ext cx="17051385" cy="12788539"/>
            <a:chOff x="0" y="0"/>
            <a:chExt cx="812800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41068" y="2780090"/>
            <a:ext cx="9337194" cy="1949496"/>
            <a:chOff x="0" y="0"/>
            <a:chExt cx="3018530" cy="6302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18530" cy="630233"/>
            </a:xfrm>
            <a:custGeom>
              <a:avLst/>
              <a:gdLst/>
              <a:ahLst/>
              <a:cxnLst/>
              <a:rect l="l" t="t" r="r" b="b"/>
              <a:pathLst>
                <a:path w="3018530" h="630233">
                  <a:moveTo>
                    <a:pt x="203200" y="0"/>
                  </a:moveTo>
                  <a:lnTo>
                    <a:pt x="3018530" y="0"/>
                  </a:lnTo>
                  <a:lnTo>
                    <a:pt x="2815330" y="630233"/>
                  </a:lnTo>
                  <a:lnTo>
                    <a:pt x="0" y="63023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815330" cy="668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82418" y="5706185"/>
            <a:ext cx="19583665" cy="11954195"/>
          </a:xfrm>
          <a:custGeom>
            <a:avLst/>
            <a:gdLst/>
            <a:ahLst/>
            <a:cxnLst/>
            <a:rect l="l" t="t" r="r" b="b"/>
            <a:pathLst>
              <a:path w="19583665" h="11954195">
                <a:moveTo>
                  <a:pt x="0" y="0"/>
                </a:moveTo>
                <a:lnTo>
                  <a:pt x="19583665" y="0"/>
                </a:lnTo>
                <a:lnTo>
                  <a:pt x="19583665" y="11954195"/>
                </a:lnTo>
                <a:lnTo>
                  <a:pt x="0" y="11954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006070" y="3754838"/>
            <a:ext cx="14337020" cy="2993400"/>
            <a:chOff x="0" y="0"/>
            <a:chExt cx="3018530" cy="6302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18530" cy="630233"/>
            </a:xfrm>
            <a:custGeom>
              <a:avLst/>
              <a:gdLst/>
              <a:ahLst/>
              <a:cxnLst/>
              <a:rect l="l" t="t" r="r" b="b"/>
              <a:pathLst>
                <a:path w="3018530" h="630233">
                  <a:moveTo>
                    <a:pt x="203200" y="0"/>
                  </a:moveTo>
                  <a:lnTo>
                    <a:pt x="3018530" y="0"/>
                  </a:lnTo>
                  <a:lnTo>
                    <a:pt x="2815330" y="630233"/>
                  </a:lnTo>
                  <a:lnTo>
                    <a:pt x="0" y="63023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2815330" cy="668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-717504"/>
            <a:ext cx="4330144" cy="4330144"/>
          </a:xfrm>
          <a:custGeom>
            <a:avLst/>
            <a:gdLst/>
            <a:ahLst/>
            <a:cxnLst/>
            <a:rect l="l" t="t" r="r" b="b"/>
            <a:pathLst>
              <a:path w="4330144" h="4330144">
                <a:moveTo>
                  <a:pt x="0" y="0"/>
                </a:moveTo>
                <a:lnTo>
                  <a:pt x="4330144" y="0"/>
                </a:lnTo>
                <a:lnTo>
                  <a:pt x="4330144" y="4330144"/>
                </a:lnTo>
                <a:lnTo>
                  <a:pt x="0" y="43301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006070" y="6738713"/>
            <a:ext cx="12555920" cy="1302677"/>
          </a:xfrm>
          <a:custGeom>
            <a:avLst/>
            <a:gdLst/>
            <a:ahLst/>
            <a:cxnLst/>
            <a:rect l="l" t="t" r="r" b="b"/>
            <a:pathLst>
              <a:path w="12555920" h="1302677">
                <a:moveTo>
                  <a:pt x="0" y="0"/>
                </a:moveTo>
                <a:lnTo>
                  <a:pt x="12555920" y="0"/>
                </a:lnTo>
                <a:lnTo>
                  <a:pt x="12555920" y="1302677"/>
                </a:lnTo>
                <a:lnTo>
                  <a:pt x="0" y="1302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9000"/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404044" y="3735555"/>
            <a:ext cx="11004395" cy="276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155"/>
              </a:lnSpc>
            </a:pPr>
            <a:r>
              <a:rPr lang="en-US" sz="8986" b="1">
                <a:solidFill>
                  <a:srgbClr val="000000"/>
                </a:solidFill>
                <a:latin typeface="Neo Tech Bold"/>
                <a:ea typeface="Neo Tech Bold"/>
                <a:cs typeface="Neo Tech Bold"/>
                <a:sym typeface="Neo Tech Bold"/>
              </a:rPr>
              <a:t>RESTAURANTE DANIETA SABORES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15089" y="2849015"/>
            <a:ext cx="4470221" cy="7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08"/>
              </a:lnSpc>
            </a:pPr>
            <a:r>
              <a:rPr lang="en-US" sz="4434" b="1" spc="68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PROJECTO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AEFAC-8865-153B-D0C0-B4DBD93A7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F06E7F6-2EC7-3A2B-4AB3-82FEB3B87156}"/>
              </a:ext>
            </a:extLst>
          </p:cNvPr>
          <p:cNvGrpSpPr/>
          <p:nvPr/>
        </p:nvGrpSpPr>
        <p:grpSpPr>
          <a:xfrm>
            <a:off x="-5812571" y="-767864"/>
            <a:ext cx="16913695" cy="12788539"/>
            <a:chOff x="0" y="0"/>
            <a:chExt cx="806237" cy="609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9A3CAE-6908-3D37-BF2A-AC9FBCC0A617}"/>
                </a:ext>
              </a:extLst>
            </p:cNvPr>
            <p:cNvSpPr/>
            <p:nvPr/>
          </p:nvSpPr>
          <p:spPr>
            <a:xfrm>
              <a:off x="0" y="0"/>
              <a:ext cx="806237" cy="609600"/>
            </a:xfrm>
            <a:custGeom>
              <a:avLst/>
              <a:gdLst/>
              <a:ahLst/>
              <a:cxnLst/>
              <a:rect l="l" t="t" r="r" b="b"/>
              <a:pathLst>
                <a:path w="806237" h="609600">
                  <a:moveTo>
                    <a:pt x="203200" y="0"/>
                  </a:moveTo>
                  <a:lnTo>
                    <a:pt x="806237" y="0"/>
                  </a:lnTo>
                  <a:lnTo>
                    <a:pt x="60303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E59">
                <a:alpha val="77647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E41162E-6C8C-9CC7-B755-B2D8E7DD7C89}"/>
                </a:ext>
              </a:extLst>
            </p:cNvPr>
            <p:cNvSpPr txBox="1"/>
            <p:nvPr/>
          </p:nvSpPr>
          <p:spPr>
            <a:xfrm>
              <a:off x="101600" y="-38100"/>
              <a:ext cx="603037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04798D4-5FB2-C480-165F-9EBDC5E8F75D}"/>
              </a:ext>
            </a:extLst>
          </p:cNvPr>
          <p:cNvSpPr/>
          <p:nvPr/>
        </p:nvSpPr>
        <p:spPr>
          <a:xfrm rot="1881247" flipH="1">
            <a:off x="-11006869" y="-2177725"/>
            <a:ext cx="15654905" cy="12223872"/>
          </a:xfrm>
          <a:custGeom>
            <a:avLst/>
            <a:gdLst/>
            <a:ahLst/>
            <a:cxnLst/>
            <a:rect l="l" t="t" r="r" b="b"/>
            <a:pathLst>
              <a:path w="15654905" h="12223872">
                <a:moveTo>
                  <a:pt x="15654905" y="0"/>
                </a:moveTo>
                <a:lnTo>
                  <a:pt x="0" y="0"/>
                </a:lnTo>
                <a:lnTo>
                  <a:pt x="0" y="12223872"/>
                </a:lnTo>
                <a:lnTo>
                  <a:pt x="15654905" y="12223872"/>
                </a:lnTo>
                <a:lnTo>
                  <a:pt x="15654905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EA2398B-C384-B068-E1F6-72DCB3E4B10C}"/>
              </a:ext>
            </a:extLst>
          </p:cNvPr>
          <p:cNvGrpSpPr/>
          <p:nvPr/>
        </p:nvGrpSpPr>
        <p:grpSpPr>
          <a:xfrm>
            <a:off x="-1517695" y="2282312"/>
            <a:ext cx="16636675" cy="2050942"/>
            <a:chOff x="0" y="0"/>
            <a:chExt cx="4717243" cy="58153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AA14DFE-662F-A93B-6DA6-D910A5C1413D}"/>
                </a:ext>
              </a:extLst>
            </p:cNvPr>
            <p:cNvSpPr/>
            <p:nvPr/>
          </p:nvSpPr>
          <p:spPr>
            <a:xfrm>
              <a:off x="0" y="0"/>
              <a:ext cx="4717243" cy="581534"/>
            </a:xfrm>
            <a:custGeom>
              <a:avLst/>
              <a:gdLst/>
              <a:ahLst/>
              <a:cxnLst/>
              <a:rect l="l" t="t" r="r" b="b"/>
              <a:pathLst>
                <a:path w="4717243" h="581534">
                  <a:moveTo>
                    <a:pt x="203200" y="0"/>
                  </a:moveTo>
                  <a:lnTo>
                    <a:pt x="4717243" y="0"/>
                  </a:lnTo>
                  <a:lnTo>
                    <a:pt x="4514043" y="581534"/>
                  </a:lnTo>
                  <a:lnTo>
                    <a:pt x="0" y="58153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775CEA8-EFDB-AF72-3A43-D3C54285E6BB}"/>
                </a:ext>
              </a:extLst>
            </p:cNvPr>
            <p:cNvSpPr txBox="1"/>
            <p:nvPr/>
          </p:nvSpPr>
          <p:spPr>
            <a:xfrm>
              <a:off x="101600" y="-38100"/>
              <a:ext cx="4514043" cy="619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846843C-A31E-F8ED-F2C5-3AF1843B1A44}"/>
              </a:ext>
            </a:extLst>
          </p:cNvPr>
          <p:cNvSpPr/>
          <p:nvPr/>
        </p:nvSpPr>
        <p:spPr>
          <a:xfrm>
            <a:off x="70293" y="4323729"/>
            <a:ext cx="12555920" cy="1302677"/>
          </a:xfrm>
          <a:custGeom>
            <a:avLst/>
            <a:gdLst/>
            <a:ahLst/>
            <a:cxnLst/>
            <a:rect l="l" t="t" r="r" b="b"/>
            <a:pathLst>
              <a:path w="12555920" h="1302677">
                <a:moveTo>
                  <a:pt x="0" y="0"/>
                </a:moveTo>
                <a:lnTo>
                  <a:pt x="12555920" y="0"/>
                </a:lnTo>
                <a:lnTo>
                  <a:pt x="12555920" y="1302677"/>
                </a:lnTo>
                <a:lnTo>
                  <a:pt x="0" y="1302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000"/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88B9359-781B-862A-EB40-6A7264396A4B}"/>
              </a:ext>
            </a:extLst>
          </p:cNvPr>
          <p:cNvSpPr txBox="1"/>
          <p:nvPr/>
        </p:nvSpPr>
        <p:spPr>
          <a:xfrm>
            <a:off x="2054551" y="2776606"/>
            <a:ext cx="12798619" cy="115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6999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MEMBROS DO GRUPO LINUX</a:t>
            </a:r>
          </a:p>
        </p:txBody>
      </p:sp>
    </p:spTree>
    <p:extLst>
      <p:ext uri="{BB962C8B-B14F-4D97-AF65-F5344CB8AC3E}">
        <p14:creationId xmlns:p14="http://schemas.microsoft.com/office/powerpoint/2010/main" val="2081785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103803-D1BA-C7A4-DCB2-28449039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40E21F-0A86-F712-D556-151851FDB50F}"/>
              </a:ext>
            </a:extLst>
          </p:cNvPr>
          <p:cNvGrpSpPr/>
          <p:nvPr/>
        </p:nvGrpSpPr>
        <p:grpSpPr>
          <a:xfrm>
            <a:off x="-5812571" y="-767864"/>
            <a:ext cx="16913695" cy="12788539"/>
            <a:chOff x="0" y="0"/>
            <a:chExt cx="806237" cy="609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1CF8BC5-8035-FF93-4B40-8C9402B305F9}"/>
                </a:ext>
              </a:extLst>
            </p:cNvPr>
            <p:cNvSpPr/>
            <p:nvPr/>
          </p:nvSpPr>
          <p:spPr>
            <a:xfrm>
              <a:off x="0" y="0"/>
              <a:ext cx="806237" cy="609600"/>
            </a:xfrm>
            <a:custGeom>
              <a:avLst/>
              <a:gdLst/>
              <a:ahLst/>
              <a:cxnLst/>
              <a:rect l="l" t="t" r="r" b="b"/>
              <a:pathLst>
                <a:path w="806237" h="609600">
                  <a:moveTo>
                    <a:pt x="203200" y="0"/>
                  </a:moveTo>
                  <a:lnTo>
                    <a:pt x="806237" y="0"/>
                  </a:lnTo>
                  <a:lnTo>
                    <a:pt x="60303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E59">
                <a:alpha val="77647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C22330F-37D3-4091-A0F6-8AFFF399A48C}"/>
                </a:ext>
              </a:extLst>
            </p:cNvPr>
            <p:cNvSpPr txBox="1"/>
            <p:nvPr/>
          </p:nvSpPr>
          <p:spPr>
            <a:xfrm>
              <a:off x="101600" y="-38100"/>
              <a:ext cx="603037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1D4F2E3-16DB-B121-F9A2-638F0AC4CCFD}"/>
              </a:ext>
            </a:extLst>
          </p:cNvPr>
          <p:cNvSpPr/>
          <p:nvPr/>
        </p:nvSpPr>
        <p:spPr>
          <a:xfrm rot="1881247" flipH="1">
            <a:off x="-11006869" y="-2177725"/>
            <a:ext cx="15654905" cy="12223872"/>
          </a:xfrm>
          <a:custGeom>
            <a:avLst/>
            <a:gdLst/>
            <a:ahLst/>
            <a:cxnLst/>
            <a:rect l="l" t="t" r="r" b="b"/>
            <a:pathLst>
              <a:path w="15654905" h="12223872">
                <a:moveTo>
                  <a:pt x="15654905" y="0"/>
                </a:moveTo>
                <a:lnTo>
                  <a:pt x="0" y="0"/>
                </a:lnTo>
                <a:lnTo>
                  <a:pt x="0" y="12223872"/>
                </a:lnTo>
                <a:lnTo>
                  <a:pt x="15654905" y="12223872"/>
                </a:lnTo>
                <a:lnTo>
                  <a:pt x="15654905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C421ADA-BBFF-1AC7-6A3B-98E8DA12BD9C}"/>
              </a:ext>
            </a:extLst>
          </p:cNvPr>
          <p:cNvGrpSpPr/>
          <p:nvPr/>
        </p:nvGrpSpPr>
        <p:grpSpPr>
          <a:xfrm>
            <a:off x="-1517695" y="2282312"/>
            <a:ext cx="16636675" cy="2050942"/>
            <a:chOff x="0" y="0"/>
            <a:chExt cx="4717243" cy="58153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112CF83-2F51-9E5A-8319-A9DC31CA3083}"/>
                </a:ext>
              </a:extLst>
            </p:cNvPr>
            <p:cNvSpPr/>
            <p:nvPr/>
          </p:nvSpPr>
          <p:spPr>
            <a:xfrm>
              <a:off x="0" y="0"/>
              <a:ext cx="4717243" cy="581534"/>
            </a:xfrm>
            <a:custGeom>
              <a:avLst/>
              <a:gdLst/>
              <a:ahLst/>
              <a:cxnLst/>
              <a:rect l="l" t="t" r="r" b="b"/>
              <a:pathLst>
                <a:path w="4717243" h="581534">
                  <a:moveTo>
                    <a:pt x="203200" y="0"/>
                  </a:moveTo>
                  <a:lnTo>
                    <a:pt x="4717243" y="0"/>
                  </a:lnTo>
                  <a:lnTo>
                    <a:pt x="4514043" y="581534"/>
                  </a:lnTo>
                  <a:lnTo>
                    <a:pt x="0" y="58153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A9C6638-470A-6E04-45E1-FB22841C40E4}"/>
                </a:ext>
              </a:extLst>
            </p:cNvPr>
            <p:cNvSpPr txBox="1"/>
            <p:nvPr/>
          </p:nvSpPr>
          <p:spPr>
            <a:xfrm>
              <a:off x="101600" y="-38100"/>
              <a:ext cx="4514043" cy="619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7AA38D2-A9A3-5571-3DCC-6AE54FE4A2D5}"/>
              </a:ext>
            </a:extLst>
          </p:cNvPr>
          <p:cNvSpPr/>
          <p:nvPr/>
        </p:nvSpPr>
        <p:spPr>
          <a:xfrm>
            <a:off x="70293" y="4323729"/>
            <a:ext cx="12555920" cy="1302677"/>
          </a:xfrm>
          <a:custGeom>
            <a:avLst/>
            <a:gdLst/>
            <a:ahLst/>
            <a:cxnLst/>
            <a:rect l="l" t="t" r="r" b="b"/>
            <a:pathLst>
              <a:path w="12555920" h="1302677">
                <a:moveTo>
                  <a:pt x="0" y="0"/>
                </a:moveTo>
                <a:lnTo>
                  <a:pt x="12555920" y="0"/>
                </a:lnTo>
                <a:lnTo>
                  <a:pt x="12555920" y="1302677"/>
                </a:lnTo>
                <a:lnTo>
                  <a:pt x="0" y="1302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000"/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E7FCAF8-0E5B-6E0B-BFD5-1994B4E1B160}"/>
              </a:ext>
            </a:extLst>
          </p:cNvPr>
          <p:cNvSpPr txBox="1"/>
          <p:nvPr/>
        </p:nvSpPr>
        <p:spPr>
          <a:xfrm>
            <a:off x="2054551" y="2776606"/>
            <a:ext cx="12798619" cy="115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6999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MEMBROS DO GRUPO LINUX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35B4DD3-C0C7-89AA-9BB3-429421EE1AE9}"/>
              </a:ext>
            </a:extLst>
          </p:cNvPr>
          <p:cNvSpPr txBox="1"/>
          <p:nvPr/>
        </p:nvSpPr>
        <p:spPr>
          <a:xfrm>
            <a:off x="1458539" y="5411393"/>
            <a:ext cx="5342104" cy="295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Belogildo Gerard</a:t>
            </a: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José Marques Sebastião</a:t>
            </a: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Cândida Isabel</a:t>
            </a: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Hazael </a:t>
            </a:r>
            <a:r>
              <a:rPr lang="en-US" sz="2999" b="1" dirty="0" err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Domildes</a:t>
            </a:r>
            <a:endParaRPr lang="en-US" sz="2999" b="1" dirty="0">
              <a:solidFill>
                <a:srgbClr val="000000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Agostinho </a:t>
            </a:r>
            <a:r>
              <a:rPr lang="en-US" sz="2999" b="1" dirty="0" err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Tétua</a:t>
            </a:r>
            <a:endParaRPr lang="en-US" sz="2999" b="1" dirty="0">
              <a:solidFill>
                <a:srgbClr val="000000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Bernardo Gomes</a:t>
            </a:r>
          </a:p>
        </p:txBody>
      </p:sp>
    </p:spTree>
    <p:extLst>
      <p:ext uri="{BB962C8B-B14F-4D97-AF65-F5344CB8AC3E}">
        <p14:creationId xmlns:p14="http://schemas.microsoft.com/office/powerpoint/2010/main" val="3280977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12571" y="-767864"/>
            <a:ext cx="16913695" cy="12788539"/>
            <a:chOff x="0" y="0"/>
            <a:chExt cx="806237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6237" cy="609600"/>
            </a:xfrm>
            <a:custGeom>
              <a:avLst/>
              <a:gdLst/>
              <a:ahLst/>
              <a:cxnLst/>
              <a:rect l="l" t="t" r="r" b="b"/>
              <a:pathLst>
                <a:path w="806237" h="609600">
                  <a:moveTo>
                    <a:pt x="203200" y="0"/>
                  </a:moveTo>
                  <a:lnTo>
                    <a:pt x="806237" y="0"/>
                  </a:lnTo>
                  <a:lnTo>
                    <a:pt x="60303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E59">
                <a:alpha val="7764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3037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881247" flipH="1">
            <a:off x="-11006869" y="-2177725"/>
            <a:ext cx="15654905" cy="12223872"/>
          </a:xfrm>
          <a:custGeom>
            <a:avLst/>
            <a:gdLst/>
            <a:ahLst/>
            <a:cxnLst/>
            <a:rect l="l" t="t" r="r" b="b"/>
            <a:pathLst>
              <a:path w="15654905" h="12223872">
                <a:moveTo>
                  <a:pt x="15654905" y="0"/>
                </a:moveTo>
                <a:lnTo>
                  <a:pt x="0" y="0"/>
                </a:lnTo>
                <a:lnTo>
                  <a:pt x="0" y="12223872"/>
                </a:lnTo>
                <a:lnTo>
                  <a:pt x="15654905" y="12223872"/>
                </a:lnTo>
                <a:lnTo>
                  <a:pt x="15654905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1517695" y="2282312"/>
            <a:ext cx="16636675" cy="2050942"/>
            <a:chOff x="0" y="0"/>
            <a:chExt cx="4717243" cy="5815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17243" cy="581534"/>
            </a:xfrm>
            <a:custGeom>
              <a:avLst/>
              <a:gdLst/>
              <a:ahLst/>
              <a:cxnLst/>
              <a:rect l="l" t="t" r="r" b="b"/>
              <a:pathLst>
                <a:path w="4717243" h="581534">
                  <a:moveTo>
                    <a:pt x="203200" y="0"/>
                  </a:moveTo>
                  <a:lnTo>
                    <a:pt x="4717243" y="0"/>
                  </a:lnTo>
                  <a:lnTo>
                    <a:pt x="4514043" y="581534"/>
                  </a:lnTo>
                  <a:lnTo>
                    <a:pt x="0" y="58153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4514043" cy="619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0293" y="4323729"/>
            <a:ext cx="12555920" cy="1302677"/>
          </a:xfrm>
          <a:custGeom>
            <a:avLst/>
            <a:gdLst/>
            <a:ahLst/>
            <a:cxnLst/>
            <a:rect l="l" t="t" r="r" b="b"/>
            <a:pathLst>
              <a:path w="12555920" h="1302677">
                <a:moveTo>
                  <a:pt x="0" y="0"/>
                </a:moveTo>
                <a:lnTo>
                  <a:pt x="12555920" y="0"/>
                </a:lnTo>
                <a:lnTo>
                  <a:pt x="12555920" y="1302677"/>
                </a:lnTo>
                <a:lnTo>
                  <a:pt x="0" y="1302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000"/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54551" y="2776606"/>
            <a:ext cx="12798619" cy="115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6999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MEMBROS DO GRUPO LINUX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65911" y="5411393"/>
            <a:ext cx="7193389" cy="243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dirty="0">
                <a:solidFill>
                  <a:srgbClr val="FFFEF3"/>
                </a:solidFill>
                <a:latin typeface="Barlow"/>
                <a:ea typeface="Barlow"/>
                <a:cs typeface="Barlow"/>
                <a:sym typeface="Barlow"/>
              </a:rPr>
              <a:t>Neymar Cubano</a:t>
            </a: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dirty="0">
                <a:solidFill>
                  <a:srgbClr val="FFFEF3"/>
                </a:solidFill>
                <a:latin typeface="Barlow"/>
                <a:ea typeface="Barlow"/>
                <a:cs typeface="Barlow"/>
                <a:sym typeface="Barlow"/>
              </a:rPr>
              <a:t>Herman Do Nascimento</a:t>
            </a: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dirty="0">
                <a:solidFill>
                  <a:srgbClr val="FFFEF3"/>
                </a:solidFill>
                <a:latin typeface="Barlow"/>
                <a:ea typeface="Barlow"/>
                <a:cs typeface="Barlow"/>
                <a:sym typeface="Barlow"/>
              </a:rPr>
              <a:t>Gustavo Paixão</a:t>
            </a: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dirty="0">
                <a:solidFill>
                  <a:srgbClr val="FFFEF3"/>
                </a:solidFill>
                <a:latin typeface="Barlow"/>
                <a:ea typeface="Barlow"/>
                <a:cs typeface="Barlow"/>
                <a:sym typeface="Barlow"/>
              </a:rPr>
              <a:t>João </a:t>
            </a:r>
            <a:r>
              <a:rPr lang="en-US" sz="2999" dirty="0" err="1">
                <a:solidFill>
                  <a:srgbClr val="FFFEF3"/>
                </a:solidFill>
                <a:latin typeface="Barlow"/>
                <a:ea typeface="Barlow"/>
                <a:cs typeface="Barlow"/>
                <a:sym typeface="Barlow"/>
              </a:rPr>
              <a:t>Seque</a:t>
            </a:r>
            <a:endParaRPr lang="en-US" sz="2999" dirty="0">
              <a:solidFill>
                <a:srgbClr val="FFFEF3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dirty="0">
                <a:solidFill>
                  <a:srgbClr val="FFFEF3"/>
                </a:solidFill>
                <a:latin typeface="Barlow"/>
                <a:ea typeface="Barlow"/>
                <a:cs typeface="Barlow"/>
                <a:sym typeface="Barlow"/>
              </a:rPr>
              <a:t>Vagner Ferreira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8539" y="5411393"/>
            <a:ext cx="5342104" cy="295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Belogildo Gerard</a:t>
            </a: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José Marques Sebastião</a:t>
            </a: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Cândida Isabel</a:t>
            </a: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Hazael </a:t>
            </a:r>
            <a:r>
              <a:rPr lang="en-US" sz="2999" b="1" dirty="0" err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Domildes</a:t>
            </a:r>
            <a:endParaRPr lang="en-US" sz="2999" b="1" dirty="0">
              <a:solidFill>
                <a:srgbClr val="000000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Agostinho </a:t>
            </a:r>
            <a:r>
              <a:rPr lang="en-US" sz="2999" b="1" dirty="0" err="1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Tétua</a:t>
            </a:r>
            <a:endParaRPr lang="en-US" sz="2999" b="1" dirty="0">
              <a:solidFill>
                <a:srgbClr val="000000"/>
              </a:solidFill>
              <a:latin typeface="Barlow Bold"/>
              <a:ea typeface="Barlow Bold"/>
              <a:cs typeface="Barlow Bold"/>
              <a:sym typeface="Barlow Bold"/>
            </a:endParaRPr>
          </a:p>
          <a:p>
            <a:pPr marL="647697" lvl="1" indent="-323848" algn="l">
              <a:lnSpc>
                <a:spcPts val="3869"/>
              </a:lnSpc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Bernardo Gomes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769804" y="-1670603"/>
            <a:ext cx="10504218" cy="12788539"/>
            <a:chOff x="0" y="0"/>
            <a:chExt cx="50071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712" cy="609600"/>
            </a:xfrm>
            <a:custGeom>
              <a:avLst/>
              <a:gdLst/>
              <a:ahLst/>
              <a:cxnLst/>
              <a:rect l="l" t="t" r="r" b="b"/>
              <a:pathLst>
                <a:path w="500712" h="609600">
                  <a:moveTo>
                    <a:pt x="203200" y="0"/>
                  </a:moveTo>
                  <a:lnTo>
                    <a:pt x="500712" y="0"/>
                  </a:lnTo>
                  <a:lnTo>
                    <a:pt x="29751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E59">
                <a:alpha val="7764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29751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537441" y="1799406"/>
            <a:ext cx="15846465" cy="2050942"/>
            <a:chOff x="0" y="0"/>
            <a:chExt cx="4493183" cy="5815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3183" cy="581534"/>
            </a:xfrm>
            <a:custGeom>
              <a:avLst/>
              <a:gdLst/>
              <a:ahLst/>
              <a:cxnLst/>
              <a:rect l="l" t="t" r="r" b="b"/>
              <a:pathLst>
                <a:path w="4493183" h="581534">
                  <a:moveTo>
                    <a:pt x="203200" y="0"/>
                  </a:moveTo>
                  <a:lnTo>
                    <a:pt x="4493183" y="0"/>
                  </a:lnTo>
                  <a:lnTo>
                    <a:pt x="4289983" y="581534"/>
                  </a:lnTo>
                  <a:lnTo>
                    <a:pt x="0" y="58153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4289983" cy="619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0293" y="3840823"/>
            <a:ext cx="12555920" cy="1302677"/>
          </a:xfrm>
          <a:custGeom>
            <a:avLst/>
            <a:gdLst/>
            <a:ahLst/>
            <a:cxnLst/>
            <a:rect l="l" t="t" r="r" b="b"/>
            <a:pathLst>
              <a:path w="12555920" h="1302677">
                <a:moveTo>
                  <a:pt x="0" y="0"/>
                </a:moveTo>
                <a:lnTo>
                  <a:pt x="12555920" y="0"/>
                </a:lnTo>
                <a:lnTo>
                  <a:pt x="12555920" y="1302677"/>
                </a:lnTo>
                <a:lnTo>
                  <a:pt x="0" y="1302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000"/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54551" y="2293700"/>
            <a:ext cx="10571662" cy="115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6999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INTRODUÇÃO AO TEMA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3658946" y="-7731710"/>
            <a:ext cx="15654905" cy="12223872"/>
          </a:xfrm>
          <a:custGeom>
            <a:avLst/>
            <a:gdLst/>
            <a:ahLst/>
            <a:cxnLst/>
            <a:rect l="l" t="t" r="r" b="b"/>
            <a:pathLst>
              <a:path w="15654905" h="12223872">
                <a:moveTo>
                  <a:pt x="15654905" y="0"/>
                </a:moveTo>
                <a:lnTo>
                  <a:pt x="0" y="0"/>
                </a:lnTo>
                <a:lnTo>
                  <a:pt x="0" y="12223872"/>
                </a:lnTo>
                <a:lnTo>
                  <a:pt x="15654905" y="12223872"/>
                </a:lnTo>
                <a:lnTo>
                  <a:pt x="15654905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070816" y="4685567"/>
            <a:ext cx="11238208" cy="146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 Gestão da Tecnologia da Informação (GTI) envolve o planejamento, implementação e monitoramento de recursos tecnológicos para apoiar os objetivos organizacionais. Seu foco está em:</a:t>
            </a: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5365096" y="7995764"/>
            <a:ext cx="526670" cy="460836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10559179" y="7995764"/>
            <a:ext cx="526670" cy="460836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070816" y="7667084"/>
            <a:ext cx="3327197" cy="108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536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MELHORAR PROCESSOS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55076" y="7667084"/>
            <a:ext cx="2853370" cy="108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536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OTIMIZAR RECURSOS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36582" y="7667084"/>
            <a:ext cx="4950162" cy="108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536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GARANTIR INOVAÇÃO E COMPETITIVIDADE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12571" y="-767864"/>
            <a:ext cx="16913695" cy="12788539"/>
            <a:chOff x="0" y="0"/>
            <a:chExt cx="806237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6237" cy="609600"/>
            </a:xfrm>
            <a:custGeom>
              <a:avLst/>
              <a:gdLst/>
              <a:ahLst/>
              <a:cxnLst/>
              <a:rect l="l" t="t" r="r" b="b"/>
              <a:pathLst>
                <a:path w="806237" h="609600">
                  <a:moveTo>
                    <a:pt x="203200" y="0"/>
                  </a:moveTo>
                  <a:lnTo>
                    <a:pt x="806237" y="0"/>
                  </a:lnTo>
                  <a:lnTo>
                    <a:pt x="60303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E59">
                <a:alpha val="7764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3037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881247" flipH="1">
            <a:off x="-11006869" y="-2177725"/>
            <a:ext cx="15654905" cy="12223872"/>
          </a:xfrm>
          <a:custGeom>
            <a:avLst/>
            <a:gdLst/>
            <a:ahLst/>
            <a:cxnLst/>
            <a:rect l="l" t="t" r="r" b="b"/>
            <a:pathLst>
              <a:path w="15654905" h="12223872">
                <a:moveTo>
                  <a:pt x="15654905" y="0"/>
                </a:moveTo>
                <a:lnTo>
                  <a:pt x="0" y="0"/>
                </a:lnTo>
                <a:lnTo>
                  <a:pt x="0" y="12223872"/>
                </a:lnTo>
                <a:lnTo>
                  <a:pt x="15654905" y="12223872"/>
                </a:lnTo>
                <a:lnTo>
                  <a:pt x="15654905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1517695" y="2282312"/>
            <a:ext cx="16636675" cy="2050942"/>
            <a:chOff x="0" y="0"/>
            <a:chExt cx="4717243" cy="5815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17243" cy="581534"/>
            </a:xfrm>
            <a:custGeom>
              <a:avLst/>
              <a:gdLst/>
              <a:ahLst/>
              <a:cxnLst/>
              <a:rect l="l" t="t" r="r" b="b"/>
              <a:pathLst>
                <a:path w="4717243" h="581534">
                  <a:moveTo>
                    <a:pt x="203200" y="0"/>
                  </a:moveTo>
                  <a:lnTo>
                    <a:pt x="4717243" y="0"/>
                  </a:lnTo>
                  <a:lnTo>
                    <a:pt x="4514043" y="581534"/>
                  </a:lnTo>
                  <a:lnTo>
                    <a:pt x="0" y="58153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4514043" cy="619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0293" y="4323729"/>
            <a:ext cx="12555920" cy="1302677"/>
          </a:xfrm>
          <a:custGeom>
            <a:avLst/>
            <a:gdLst/>
            <a:ahLst/>
            <a:cxnLst/>
            <a:rect l="l" t="t" r="r" b="b"/>
            <a:pathLst>
              <a:path w="12555920" h="1302677">
                <a:moveTo>
                  <a:pt x="0" y="0"/>
                </a:moveTo>
                <a:lnTo>
                  <a:pt x="12555920" y="0"/>
                </a:lnTo>
                <a:lnTo>
                  <a:pt x="12555920" y="1302677"/>
                </a:lnTo>
                <a:lnTo>
                  <a:pt x="0" y="1302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000"/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54551" y="2776606"/>
            <a:ext cx="11670487" cy="115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6999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CONCEITO DE GESTÃO DE TI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65911" y="5168472"/>
            <a:ext cx="7193389" cy="243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2999">
                <a:solidFill>
                  <a:srgbClr val="FFFEF3"/>
                </a:solidFill>
                <a:latin typeface="Barlow"/>
                <a:ea typeface="Barlow"/>
                <a:cs typeface="Barlow"/>
                <a:sym typeface="Barlow"/>
              </a:rPr>
              <a:t>Seu objetivo é garantir que a infraestrutura, os sistemas e os serviços de TI contribuam para a eficiência e inovação da empresa, apoiando a tomada de decisão e gerando vantagem competitiva.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11094" y="5168472"/>
            <a:ext cx="5342104" cy="243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29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Ela é o conjunto de processos, estratégias e práticas utilizadas para alinhar os recursos tecnológicos aos objetivos organizacionais.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63411" y="-1181778"/>
            <a:ext cx="16913695" cy="12788539"/>
            <a:chOff x="0" y="0"/>
            <a:chExt cx="806237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6237" cy="609600"/>
            </a:xfrm>
            <a:custGeom>
              <a:avLst/>
              <a:gdLst/>
              <a:ahLst/>
              <a:cxnLst/>
              <a:rect l="l" t="t" r="r" b="b"/>
              <a:pathLst>
                <a:path w="806237" h="609600">
                  <a:moveTo>
                    <a:pt x="203200" y="0"/>
                  </a:moveTo>
                  <a:lnTo>
                    <a:pt x="806237" y="0"/>
                  </a:lnTo>
                  <a:lnTo>
                    <a:pt x="60303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7764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3037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881247" flipH="1">
            <a:off x="8397223" y="-3797399"/>
            <a:ext cx="15654905" cy="12223872"/>
          </a:xfrm>
          <a:custGeom>
            <a:avLst/>
            <a:gdLst/>
            <a:ahLst/>
            <a:cxnLst/>
            <a:rect l="l" t="t" r="r" b="b"/>
            <a:pathLst>
              <a:path w="15654905" h="12223872">
                <a:moveTo>
                  <a:pt x="15654905" y="0"/>
                </a:moveTo>
                <a:lnTo>
                  <a:pt x="0" y="0"/>
                </a:lnTo>
                <a:lnTo>
                  <a:pt x="0" y="12223872"/>
                </a:lnTo>
                <a:lnTo>
                  <a:pt x="15654905" y="12223872"/>
                </a:lnTo>
                <a:lnTo>
                  <a:pt x="15654905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32089" y="2282312"/>
            <a:ext cx="21860838" cy="2050942"/>
            <a:chOff x="0" y="0"/>
            <a:chExt cx="6198527" cy="5815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198527" cy="581534"/>
            </a:xfrm>
            <a:custGeom>
              <a:avLst/>
              <a:gdLst/>
              <a:ahLst/>
              <a:cxnLst/>
              <a:rect l="l" t="t" r="r" b="b"/>
              <a:pathLst>
                <a:path w="6198527" h="581534">
                  <a:moveTo>
                    <a:pt x="203200" y="0"/>
                  </a:moveTo>
                  <a:lnTo>
                    <a:pt x="6198527" y="0"/>
                  </a:lnTo>
                  <a:lnTo>
                    <a:pt x="5995327" y="581534"/>
                  </a:lnTo>
                  <a:lnTo>
                    <a:pt x="0" y="58153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5995327" cy="619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201050" y="4323729"/>
            <a:ext cx="12555920" cy="1302677"/>
          </a:xfrm>
          <a:custGeom>
            <a:avLst/>
            <a:gdLst/>
            <a:ahLst/>
            <a:cxnLst/>
            <a:rect l="l" t="t" r="r" b="b"/>
            <a:pathLst>
              <a:path w="12555920" h="1302677">
                <a:moveTo>
                  <a:pt x="0" y="0"/>
                </a:moveTo>
                <a:lnTo>
                  <a:pt x="12555920" y="0"/>
                </a:lnTo>
                <a:lnTo>
                  <a:pt x="12555920" y="1302677"/>
                </a:lnTo>
                <a:lnTo>
                  <a:pt x="0" y="1302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000"/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904370" y="2776606"/>
            <a:ext cx="11670487" cy="115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6999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PAPEL ESTRATÉGICO DA TI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04370" y="5174391"/>
            <a:ext cx="8459041" cy="340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29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 TI deixou de ser apenas um suporte operacional e se tornou peça-chave na estratégia organizacional. Uma boa gestão envolve a análise de tendências, o uso de dados para insights, a automação de processos e a busca por soluções que reduzam custos e aumentem a produtividade, além de promover inovação em produtos e serviços.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73795" y="-187206"/>
            <a:ext cx="15587857" cy="11690893"/>
            <a:chOff x="0" y="0"/>
            <a:chExt cx="812800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-25484" t="-14035" r="-893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517695" y="1321218"/>
            <a:ext cx="16636675" cy="2050942"/>
            <a:chOff x="0" y="0"/>
            <a:chExt cx="4717243" cy="5815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17243" cy="581534"/>
            </a:xfrm>
            <a:custGeom>
              <a:avLst/>
              <a:gdLst/>
              <a:ahLst/>
              <a:cxnLst/>
              <a:rect l="l" t="t" r="r" b="b"/>
              <a:pathLst>
                <a:path w="4717243" h="581534">
                  <a:moveTo>
                    <a:pt x="203200" y="0"/>
                  </a:moveTo>
                  <a:lnTo>
                    <a:pt x="4717243" y="0"/>
                  </a:lnTo>
                  <a:lnTo>
                    <a:pt x="4514043" y="581534"/>
                  </a:lnTo>
                  <a:lnTo>
                    <a:pt x="0" y="58153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4514043" cy="619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0293" y="3362635"/>
            <a:ext cx="12555920" cy="1302677"/>
          </a:xfrm>
          <a:custGeom>
            <a:avLst/>
            <a:gdLst/>
            <a:ahLst/>
            <a:cxnLst/>
            <a:rect l="l" t="t" r="r" b="b"/>
            <a:pathLst>
              <a:path w="12555920" h="1302677">
                <a:moveTo>
                  <a:pt x="0" y="0"/>
                </a:moveTo>
                <a:lnTo>
                  <a:pt x="12555920" y="0"/>
                </a:lnTo>
                <a:lnTo>
                  <a:pt x="12555920" y="1302677"/>
                </a:lnTo>
                <a:lnTo>
                  <a:pt x="0" y="1302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000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628380" y="5008212"/>
            <a:ext cx="11657472" cy="7591929"/>
          </a:xfrm>
          <a:custGeom>
            <a:avLst/>
            <a:gdLst/>
            <a:ahLst/>
            <a:cxnLst/>
            <a:rect l="l" t="t" r="r" b="b"/>
            <a:pathLst>
              <a:path w="11657472" h="7591929">
                <a:moveTo>
                  <a:pt x="0" y="0"/>
                </a:moveTo>
                <a:lnTo>
                  <a:pt x="11657472" y="0"/>
                </a:lnTo>
                <a:lnTo>
                  <a:pt x="11657472" y="7591929"/>
                </a:lnTo>
                <a:lnTo>
                  <a:pt x="0" y="7591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589370" y="4013974"/>
            <a:ext cx="3326429" cy="1713003"/>
            <a:chOff x="0" y="0"/>
            <a:chExt cx="934304" cy="4811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4304" cy="481136"/>
            </a:xfrm>
            <a:custGeom>
              <a:avLst/>
              <a:gdLst/>
              <a:ahLst/>
              <a:cxnLst/>
              <a:rect l="l" t="t" r="r" b="b"/>
              <a:pathLst>
                <a:path w="934304" h="481136">
                  <a:moveTo>
                    <a:pt x="67494" y="0"/>
                  </a:moveTo>
                  <a:lnTo>
                    <a:pt x="866810" y="0"/>
                  </a:lnTo>
                  <a:cubicBezTo>
                    <a:pt x="904086" y="0"/>
                    <a:pt x="934304" y="30218"/>
                    <a:pt x="934304" y="67494"/>
                  </a:cubicBezTo>
                  <a:lnTo>
                    <a:pt x="934304" y="413642"/>
                  </a:lnTo>
                  <a:cubicBezTo>
                    <a:pt x="934304" y="450918"/>
                    <a:pt x="904086" y="481136"/>
                    <a:pt x="866810" y="481136"/>
                  </a:cubicBezTo>
                  <a:lnTo>
                    <a:pt x="67494" y="481136"/>
                  </a:lnTo>
                  <a:cubicBezTo>
                    <a:pt x="30218" y="481136"/>
                    <a:pt x="0" y="450918"/>
                    <a:pt x="0" y="413642"/>
                  </a:cubicBezTo>
                  <a:lnTo>
                    <a:pt x="0" y="67494"/>
                  </a:lnTo>
                  <a:cubicBezTo>
                    <a:pt x="0" y="30218"/>
                    <a:pt x="30218" y="0"/>
                    <a:pt x="6749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34304" cy="519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89370" y="5984151"/>
            <a:ext cx="3326429" cy="1713003"/>
            <a:chOff x="0" y="0"/>
            <a:chExt cx="934304" cy="4811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4304" cy="481136"/>
            </a:xfrm>
            <a:custGeom>
              <a:avLst/>
              <a:gdLst/>
              <a:ahLst/>
              <a:cxnLst/>
              <a:rect l="l" t="t" r="r" b="b"/>
              <a:pathLst>
                <a:path w="934304" h="481136">
                  <a:moveTo>
                    <a:pt x="67494" y="0"/>
                  </a:moveTo>
                  <a:lnTo>
                    <a:pt x="866810" y="0"/>
                  </a:lnTo>
                  <a:cubicBezTo>
                    <a:pt x="904086" y="0"/>
                    <a:pt x="934304" y="30218"/>
                    <a:pt x="934304" y="67494"/>
                  </a:cubicBezTo>
                  <a:lnTo>
                    <a:pt x="934304" y="413642"/>
                  </a:lnTo>
                  <a:cubicBezTo>
                    <a:pt x="934304" y="450918"/>
                    <a:pt x="904086" y="481136"/>
                    <a:pt x="866810" y="481136"/>
                  </a:cubicBezTo>
                  <a:lnTo>
                    <a:pt x="67494" y="481136"/>
                  </a:lnTo>
                  <a:cubicBezTo>
                    <a:pt x="30218" y="481136"/>
                    <a:pt x="0" y="450918"/>
                    <a:pt x="0" y="413642"/>
                  </a:cubicBezTo>
                  <a:lnTo>
                    <a:pt x="0" y="67494"/>
                  </a:lnTo>
                  <a:cubicBezTo>
                    <a:pt x="0" y="30218"/>
                    <a:pt x="30218" y="0"/>
                    <a:pt x="6749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34304" cy="519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49451" y="5984151"/>
            <a:ext cx="3326429" cy="1713003"/>
            <a:chOff x="0" y="0"/>
            <a:chExt cx="934304" cy="4811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4304" cy="481136"/>
            </a:xfrm>
            <a:custGeom>
              <a:avLst/>
              <a:gdLst/>
              <a:ahLst/>
              <a:cxnLst/>
              <a:rect l="l" t="t" r="r" b="b"/>
              <a:pathLst>
                <a:path w="934304" h="481136">
                  <a:moveTo>
                    <a:pt x="67494" y="0"/>
                  </a:moveTo>
                  <a:lnTo>
                    <a:pt x="866810" y="0"/>
                  </a:lnTo>
                  <a:cubicBezTo>
                    <a:pt x="904086" y="0"/>
                    <a:pt x="934304" y="30218"/>
                    <a:pt x="934304" y="67494"/>
                  </a:cubicBezTo>
                  <a:lnTo>
                    <a:pt x="934304" y="413642"/>
                  </a:lnTo>
                  <a:cubicBezTo>
                    <a:pt x="934304" y="450918"/>
                    <a:pt x="904086" y="481136"/>
                    <a:pt x="866810" y="481136"/>
                  </a:cubicBezTo>
                  <a:lnTo>
                    <a:pt x="67494" y="481136"/>
                  </a:lnTo>
                  <a:cubicBezTo>
                    <a:pt x="30218" y="481136"/>
                    <a:pt x="0" y="450918"/>
                    <a:pt x="0" y="413642"/>
                  </a:cubicBezTo>
                  <a:lnTo>
                    <a:pt x="0" y="67494"/>
                  </a:lnTo>
                  <a:cubicBezTo>
                    <a:pt x="0" y="30218"/>
                    <a:pt x="30218" y="0"/>
                    <a:pt x="6749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34304" cy="519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49451" y="4013974"/>
            <a:ext cx="3326429" cy="1713003"/>
            <a:chOff x="0" y="0"/>
            <a:chExt cx="934304" cy="4811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4304" cy="481136"/>
            </a:xfrm>
            <a:custGeom>
              <a:avLst/>
              <a:gdLst/>
              <a:ahLst/>
              <a:cxnLst/>
              <a:rect l="l" t="t" r="r" b="b"/>
              <a:pathLst>
                <a:path w="934304" h="481136">
                  <a:moveTo>
                    <a:pt x="67494" y="0"/>
                  </a:moveTo>
                  <a:lnTo>
                    <a:pt x="866810" y="0"/>
                  </a:lnTo>
                  <a:cubicBezTo>
                    <a:pt x="904086" y="0"/>
                    <a:pt x="934304" y="30218"/>
                    <a:pt x="934304" y="67494"/>
                  </a:cubicBezTo>
                  <a:lnTo>
                    <a:pt x="934304" y="413642"/>
                  </a:lnTo>
                  <a:cubicBezTo>
                    <a:pt x="934304" y="450918"/>
                    <a:pt x="904086" y="481136"/>
                    <a:pt x="866810" y="481136"/>
                  </a:cubicBezTo>
                  <a:lnTo>
                    <a:pt x="67494" y="481136"/>
                  </a:lnTo>
                  <a:cubicBezTo>
                    <a:pt x="30218" y="481136"/>
                    <a:pt x="0" y="450918"/>
                    <a:pt x="0" y="413642"/>
                  </a:cubicBezTo>
                  <a:lnTo>
                    <a:pt x="0" y="67494"/>
                  </a:lnTo>
                  <a:cubicBezTo>
                    <a:pt x="0" y="30218"/>
                    <a:pt x="30218" y="0"/>
                    <a:pt x="6749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34304" cy="519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46723" y="8040054"/>
            <a:ext cx="7029157" cy="1218246"/>
            <a:chOff x="0" y="0"/>
            <a:chExt cx="1974301" cy="3421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74301" cy="342172"/>
            </a:xfrm>
            <a:custGeom>
              <a:avLst/>
              <a:gdLst/>
              <a:ahLst/>
              <a:cxnLst/>
              <a:rect l="l" t="t" r="r" b="b"/>
              <a:pathLst>
                <a:path w="1974301" h="342172">
                  <a:moveTo>
                    <a:pt x="31941" y="0"/>
                  </a:moveTo>
                  <a:lnTo>
                    <a:pt x="1942360" y="0"/>
                  </a:lnTo>
                  <a:cubicBezTo>
                    <a:pt x="1960000" y="0"/>
                    <a:pt x="1974301" y="14300"/>
                    <a:pt x="1974301" y="31941"/>
                  </a:cubicBezTo>
                  <a:lnTo>
                    <a:pt x="1974301" y="310232"/>
                  </a:lnTo>
                  <a:cubicBezTo>
                    <a:pt x="1974301" y="327872"/>
                    <a:pt x="1960000" y="342172"/>
                    <a:pt x="1942360" y="342172"/>
                  </a:cubicBezTo>
                  <a:lnTo>
                    <a:pt x="31941" y="342172"/>
                  </a:lnTo>
                  <a:cubicBezTo>
                    <a:pt x="23469" y="342172"/>
                    <a:pt x="15345" y="338807"/>
                    <a:pt x="9355" y="332817"/>
                  </a:cubicBezTo>
                  <a:cubicBezTo>
                    <a:pt x="3365" y="326827"/>
                    <a:pt x="0" y="318703"/>
                    <a:pt x="0" y="310232"/>
                  </a:cubicBezTo>
                  <a:lnTo>
                    <a:pt x="0" y="31941"/>
                  </a:lnTo>
                  <a:cubicBezTo>
                    <a:pt x="0" y="14300"/>
                    <a:pt x="14300" y="0"/>
                    <a:pt x="31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974301" cy="380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89370" y="1863783"/>
            <a:ext cx="12888075" cy="115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6999" b="1">
                <a:solidFill>
                  <a:srgbClr val="FFFEF3"/>
                </a:solidFill>
                <a:latin typeface="Neo Tech Bold"/>
                <a:ea typeface="Neo Tech Bold"/>
                <a:cs typeface="Neo Tech Bold"/>
                <a:sym typeface="Neo Tech Bold"/>
              </a:rPr>
              <a:t>PROCESSOS DE GESTÃO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11340" y="4495342"/>
            <a:ext cx="2282490" cy="77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813" b="1">
                <a:solidFill>
                  <a:srgbClr val="FFFEF3"/>
                </a:solidFill>
                <a:latin typeface="Barlow Bold"/>
                <a:ea typeface="Barlow Bold"/>
                <a:cs typeface="Barlow Bold"/>
                <a:sym typeface="Barlow Bold"/>
              </a:rPr>
              <a:t>Planejamento e governança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71420" y="4495342"/>
            <a:ext cx="2282490" cy="1162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813" b="1">
                <a:solidFill>
                  <a:srgbClr val="FFFEF3"/>
                </a:solidFill>
                <a:latin typeface="Barlow Bold"/>
                <a:ea typeface="Barlow Bold"/>
                <a:cs typeface="Barlow Bold"/>
                <a:sym typeface="Barlow Bold"/>
              </a:rPr>
              <a:t>Segurança da informação</a:t>
            </a:r>
          </a:p>
          <a:p>
            <a:pPr algn="l">
              <a:lnSpc>
                <a:spcPts val="3066"/>
              </a:lnSpc>
            </a:pPr>
            <a:endParaRPr lang="en-US" sz="2813" b="1">
              <a:solidFill>
                <a:srgbClr val="FFFEF3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070214" y="8433422"/>
            <a:ext cx="6083696" cy="39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813" b="1">
                <a:solidFill>
                  <a:srgbClr val="FFFEF3"/>
                </a:solidFill>
                <a:latin typeface="Barlow Bold"/>
                <a:ea typeface="Barlow Bold"/>
                <a:cs typeface="Barlow Bold"/>
                <a:sym typeface="Barlow Bold"/>
              </a:rPr>
              <a:t>Gestão de infraestrutura e sistemas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11340" y="6465520"/>
            <a:ext cx="2684356" cy="77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813" b="1">
                <a:solidFill>
                  <a:srgbClr val="FFFEF3"/>
                </a:solidFill>
                <a:latin typeface="Barlow Bold"/>
                <a:ea typeface="Barlow Bold"/>
                <a:cs typeface="Barlow Bold"/>
                <a:sym typeface="Barlow Bold"/>
              </a:rPr>
              <a:t>Suporte ao usuário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71420" y="6465520"/>
            <a:ext cx="2684356" cy="77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813" b="1">
                <a:solidFill>
                  <a:srgbClr val="FFFEF3"/>
                </a:solidFill>
                <a:latin typeface="Barlow Bold"/>
                <a:ea typeface="Barlow Bold"/>
                <a:cs typeface="Barlow Bold"/>
                <a:sym typeface="Barlow Bold"/>
              </a:rPr>
              <a:t>Monitoramento de desempenho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23409" y="-1664684"/>
            <a:ext cx="10504218" cy="12788539"/>
            <a:chOff x="0" y="0"/>
            <a:chExt cx="50071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712" cy="609600"/>
            </a:xfrm>
            <a:custGeom>
              <a:avLst/>
              <a:gdLst/>
              <a:ahLst/>
              <a:cxnLst/>
              <a:rect l="l" t="t" r="r" b="b"/>
              <a:pathLst>
                <a:path w="500712" h="609600">
                  <a:moveTo>
                    <a:pt x="203200" y="0"/>
                  </a:moveTo>
                  <a:lnTo>
                    <a:pt x="500712" y="0"/>
                  </a:lnTo>
                  <a:lnTo>
                    <a:pt x="29751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7764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29751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241879" y="-1664684"/>
            <a:ext cx="10504218" cy="12788539"/>
            <a:chOff x="0" y="0"/>
            <a:chExt cx="50071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0712" cy="609600"/>
            </a:xfrm>
            <a:custGeom>
              <a:avLst/>
              <a:gdLst/>
              <a:ahLst/>
              <a:cxnLst/>
              <a:rect l="l" t="t" r="r" b="b"/>
              <a:pathLst>
                <a:path w="500712" h="609600">
                  <a:moveTo>
                    <a:pt x="203200" y="0"/>
                  </a:moveTo>
                  <a:lnTo>
                    <a:pt x="500712" y="0"/>
                  </a:lnTo>
                  <a:lnTo>
                    <a:pt x="29751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77647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9751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217637" y="3883385"/>
            <a:ext cx="10621039" cy="2555602"/>
            <a:chOff x="0" y="0"/>
            <a:chExt cx="2416845" cy="5815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16845" cy="581534"/>
            </a:xfrm>
            <a:custGeom>
              <a:avLst/>
              <a:gdLst/>
              <a:ahLst/>
              <a:cxnLst/>
              <a:rect l="l" t="t" r="r" b="b"/>
              <a:pathLst>
                <a:path w="2416845" h="581534">
                  <a:moveTo>
                    <a:pt x="203200" y="0"/>
                  </a:moveTo>
                  <a:lnTo>
                    <a:pt x="2416845" y="0"/>
                  </a:lnTo>
                  <a:lnTo>
                    <a:pt x="2213645" y="581534"/>
                  </a:lnTo>
                  <a:lnTo>
                    <a:pt x="0" y="58153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2213645" cy="619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2747474" y="6419937"/>
            <a:ext cx="11404070" cy="1183172"/>
          </a:xfrm>
          <a:custGeom>
            <a:avLst/>
            <a:gdLst/>
            <a:ahLst/>
            <a:cxnLst/>
            <a:rect l="l" t="t" r="r" b="b"/>
            <a:pathLst>
              <a:path w="11404070" h="1183172">
                <a:moveTo>
                  <a:pt x="0" y="0"/>
                </a:moveTo>
                <a:lnTo>
                  <a:pt x="11404070" y="0"/>
                </a:lnTo>
                <a:lnTo>
                  <a:pt x="11404070" y="1183172"/>
                </a:lnTo>
                <a:lnTo>
                  <a:pt x="0" y="1183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000"/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71453" y="-1877478"/>
            <a:ext cx="19030905" cy="5812356"/>
          </a:xfrm>
          <a:custGeom>
            <a:avLst/>
            <a:gdLst/>
            <a:ahLst/>
            <a:cxnLst/>
            <a:rect l="l" t="t" r="r" b="b"/>
            <a:pathLst>
              <a:path w="19030905" h="5812356">
                <a:moveTo>
                  <a:pt x="0" y="0"/>
                </a:moveTo>
                <a:lnTo>
                  <a:pt x="19030906" y="0"/>
                </a:lnTo>
                <a:lnTo>
                  <a:pt x="19030906" y="5812356"/>
                </a:lnTo>
                <a:lnTo>
                  <a:pt x="0" y="5812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4205057"/>
            <a:ext cx="7215094" cy="215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6999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SEGURANÇA DA INFORMAÇÃO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7424" y="2954243"/>
            <a:ext cx="6284455" cy="534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 segurança da informação é um dos pilares da gestão de TI. Consiste em proteger dados, sistemas e redes contra ameaças internas e externas, preservando a confidencialidade, integridade e disponibilidade das informações. </a:t>
            </a:r>
          </a:p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 implementação de políticas de segurança e boas práticas reduz riscos e garante a continuidade dos negócios.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27" r="-382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37661" y="-1877478"/>
            <a:ext cx="16858886" cy="12788539"/>
            <a:chOff x="0" y="0"/>
            <a:chExt cx="803624" cy="609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3624" cy="609600"/>
            </a:xfrm>
            <a:custGeom>
              <a:avLst/>
              <a:gdLst/>
              <a:ahLst/>
              <a:cxnLst/>
              <a:rect l="l" t="t" r="r" b="b"/>
              <a:pathLst>
                <a:path w="803624" h="609600">
                  <a:moveTo>
                    <a:pt x="203200" y="0"/>
                  </a:moveTo>
                  <a:lnTo>
                    <a:pt x="803624" y="0"/>
                  </a:lnTo>
                  <a:lnTo>
                    <a:pt x="60042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E59">
                <a:alpha val="96863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60042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217637" y="3883385"/>
            <a:ext cx="10621039" cy="2555602"/>
            <a:chOff x="0" y="0"/>
            <a:chExt cx="2416845" cy="5815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16845" cy="581534"/>
            </a:xfrm>
            <a:custGeom>
              <a:avLst/>
              <a:gdLst/>
              <a:ahLst/>
              <a:cxnLst/>
              <a:rect l="l" t="t" r="r" b="b"/>
              <a:pathLst>
                <a:path w="2416845" h="581534">
                  <a:moveTo>
                    <a:pt x="203200" y="0"/>
                  </a:moveTo>
                  <a:lnTo>
                    <a:pt x="2416845" y="0"/>
                  </a:lnTo>
                  <a:lnTo>
                    <a:pt x="2213645" y="581534"/>
                  </a:lnTo>
                  <a:lnTo>
                    <a:pt x="0" y="58153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2213645" cy="619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747474" y="6419937"/>
            <a:ext cx="11404070" cy="1183172"/>
          </a:xfrm>
          <a:custGeom>
            <a:avLst/>
            <a:gdLst/>
            <a:ahLst/>
            <a:cxnLst/>
            <a:rect l="l" t="t" r="r" b="b"/>
            <a:pathLst>
              <a:path w="11404070" h="1183172">
                <a:moveTo>
                  <a:pt x="0" y="0"/>
                </a:moveTo>
                <a:lnTo>
                  <a:pt x="11404070" y="0"/>
                </a:lnTo>
                <a:lnTo>
                  <a:pt x="11404070" y="1183172"/>
                </a:lnTo>
                <a:lnTo>
                  <a:pt x="0" y="1183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000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71453" y="-1877478"/>
            <a:ext cx="19030905" cy="5812356"/>
          </a:xfrm>
          <a:custGeom>
            <a:avLst/>
            <a:gdLst/>
            <a:ahLst/>
            <a:cxnLst/>
            <a:rect l="l" t="t" r="r" b="b"/>
            <a:pathLst>
              <a:path w="19030905" h="5812356">
                <a:moveTo>
                  <a:pt x="0" y="0"/>
                </a:moveTo>
                <a:lnTo>
                  <a:pt x="19030906" y="0"/>
                </a:lnTo>
                <a:lnTo>
                  <a:pt x="19030906" y="5812356"/>
                </a:lnTo>
                <a:lnTo>
                  <a:pt x="0" y="5812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4205057"/>
            <a:ext cx="7215094" cy="215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9"/>
              </a:lnSpc>
            </a:pPr>
            <a:r>
              <a:rPr lang="en-US" sz="6999" b="1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TENDÊNCIAS TECNOLÓGICAS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32622" y="3367492"/>
            <a:ext cx="6871040" cy="3890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As tendências em TI, como computação em nuvem, inteligência artificial, Internet das Coisas (IoT) e análise de big data, estão moldando a forma como empresas e organizações operam. A gestão eficiente requer atualização constante para acompanhar mudanças, adotando novas tecnologias de forma estratégica.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0418" y="2725799"/>
            <a:ext cx="19120132" cy="4723804"/>
            <a:chOff x="0" y="0"/>
            <a:chExt cx="2962209" cy="7318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62209" cy="731841"/>
            </a:xfrm>
            <a:custGeom>
              <a:avLst/>
              <a:gdLst/>
              <a:ahLst/>
              <a:cxnLst/>
              <a:rect l="l" t="t" r="r" b="b"/>
              <a:pathLst>
                <a:path w="2962209" h="731841">
                  <a:moveTo>
                    <a:pt x="0" y="0"/>
                  </a:moveTo>
                  <a:lnTo>
                    <a:pt x="2962209" y="0"/>
                  </a:lnTo>
                  <a:lnTo>
                    <a:pt x="2962209" y="731841"/>
                  </a:lnTo>
                  <a:lnTo>
                    <a:pt x="0" y="731841"/>
                  </a:lnTo>
                  <a:close/>
                </a:path>
              </a:pathLst>
            </a:custGeom>
            <a:blipFill>
              <a:blip r:embed="rId2"/>
              <a:stretch>
                <a:fillRect t="-84962" b="-8496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833158" y="2087984"/>
            <a:ext cx="14621683" cy="2050942"/>
            <a:chOff x="0" y="0"/>
            <a:chExt cx="4145902" cy="5815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45902" cy="581534"/>
            </a:xfrm>
            <a:custGeom>
              <a:avLst/>
              <a:gdLst/>
              <a:ahLst/>
              <a:cxnLst/>
              <a:rect l="l" t="t" r="r" b="b"/>
              <a:pathLst>
                <a:path w="4145902" h="581534">
                  <a:moveTo>
                    <a:pt x="203200" y="0"/>
                  </a:moveTo>
                  <a:lnTo>
                    <a:pt x="4145902" y="0"/>
                  </a:lnTo>
                  <a:lnTo>
                    <a:pt x="3942702" y="581534"/>
                  </a:lnTo>
                  <a:lnTo>
                    <a:pt x="0" y="58153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3942702" cy="619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866040" y="4129401"/>
            <a:ext cx="12555920" cy="1302677"/>
          </a:xfrm>
          <a:custGeom>
            <a:avLst/>
            <a:gdLst/>
            <a:ahLst/>
            <a:cxnLst/>
            <a:rect l="l" t="t" r="r" b="b"/>
            <a:pathLst>
              <a:path w="12555920" h="1302677">
                <a:moveTo>
                  <a:pt x="0" y="0"/>
                </a:moveTo>
                <a:lnTo>
                  <a:pt x="12555920" y="0"/>
                </a:lnTo>
                <a:lnTo>
                  <a:pt x="12555920" y="1302677"/>
                </a:lnTo>
                <a:lnTo>
                  <a:pt x="0" y="1302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000"/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189407" y="5432078"/>
            <a:ext cx="2766939" cy="276693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99271" y="5432078"/>
            <a:ext cx="2766939" cy="276693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807936" y="5432078"/>
            <a:ext cx="2766939" cy="276693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16602" y="5432078"/>
            <a:ext cx="2766939" cy="276693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279904" y="5432078"/>
            <a:ext cx="2766939" cy="276693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699962" y="2630549"/>
            <a:ext cx="12888075" cy="115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sz="6999" b="1">
                <a:solidFill>
                  <a:srgbClr val="FFFEF3"/>
                </a:solidFill>
                <a:latin typeface="Neo Tech Bold"/>
                <a:ea typeface="Neo Tech Bold"/>
                <a:cs typeface="Neo Tech Bold"/>
                <a:sym typeface="Neo Tech Bold"/>
              </a:rPr>
              <a:t>DESAFIOS NA GESTÃO DE TI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94084" y="6248723"/>
            <a:ext cx="2157584" cy="103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522" b="1">
                <a:solidFill>
                  <a:srgbClr val="FFFEF3"/>
                </a:solidFill>
                <a:latin typeface="Barlow Bold"/>
                <a:ea typeface="Barlow Bold"/>
                <a:cs typeface="Barlow Bold"/>
                <a:sym typeface="Barlow Bold"/>
              </a:rPr>
              <a:t>Rápida evolução tecnológica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06136" y="6418151"/>
            <a:ext cx="1953207" cy="68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522" b="1">
                <a:solidFill>
                  <a:srgbClr val="FFFEF3"/>
                </a:solidFill>
                <a:latin typeface="Barlow Bold"/>
                <a:ea typeface="Barlow Bold"/>
                <a:cs typeface="Barlow Bold"/>
                <a:sym typeface="Barlow Bold"/>
              </a:rPr>
              <a:t>Limitação de orçamento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71743" y="6588950"/>
            <a:ext cx="1856656" cy="68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522" b="1">
                <a:solidFill>
                  <a:srgbClr val="FFFEF3"/>
                </a:solidFill>
                <a:latin typeface="Barlow Bold"/>
                <a:ea typeface="Barlow Bold"/>
                <a:cs typeface="Barlow Bold"/>
                <a:sym typeface="Barlow Bold"/>
              </a:rPr>
              <a:t>Integração de sistemas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28153" y="6418151"/>
            <a:ext cx="2870440" cy="103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522" b="1">
                <a:solidFill>
                  <a:srgbClr val="FFFEF3"/>
                </a:solidFill>
                <a:latin typeface="Barlow Bold"/>
                <a:ea typeface="Barlow Bold"/>
                <a:cs typeface="Barlow Bold"/>
                <a:sym typeface="Barlow Bold"/>
              </a:rPr>
              <a:t>Aumento das ameaças cibernéticas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75476" y="6314108"/>
            <a:ext cx="2631859" cy="103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522" b="1">
                <a:solidFill>
                  <a:srgbClr val="FFFEF3"/>
                </a:solidFill>
                <a:latin typeface="Barlow Bold"/>
                <a:ea typeface="Barlow Bold"/>
                <a:cs typeface="Barlow Bold"/>
                <a:sym typeface="Barlow Bold"/>
              </a:rPr>
              <a:t>Escassez de profissionais qualificados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08602" y="-2230811"/>
            <a:ext cx="11657472" cy="7591929"/>
          </a:xfrm>
          <a:custGeom>
            <a:avLst/>
            <a:gdLst/>
            <a:ahLst/>
            <a:cxnLst/>
            <a:rect l="l" t="t" r="r" b="b"/>
            <a:pathLst>
              <a:path w="11657472" h="7591929">
                <a:moveTo>
                  <a:pt x="0" y="0"/>
                </a:moveTo>
                <a:lnTo>
                  <a:pt x="11657472" y="0"/>
                </a:lnTo>
                <a:lnTo>
                  <a:pt x="11657472" y="7591929"/>
                </a:lnTo>
                <a:lnTo>
                  <a:pt x="0" y="7591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279090"/>
            <a:ext cx="9066530" cy="50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6"/>
              </a:lnSpc>
            </a:pPr>
            <a:r>
              <a:rPr lang="en-US" sz="3026" spc="46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GRANDESITE.COM.BR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214311"/>
            <a:ext cx="7952673" cy="357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5"/>
              </a:lnSpc>
            </a:pPr>
            <a:r>
              <a:rPr lang="en-US" sz="8805" b="1">
                <a:solidFill>
                  <a:srgbClr val="000000"/>
                </a:solidFill>
                <a:latin typeface="Neo Tech Bold"/>
                <a:ea typeface="Neo Tech Bold"/>
                <a:cs typeface="Neo Tech Bold"/>
                <a:sym typeface="Neo Tech Bold"/>
              </a:rPr>
              <a:t>Entre em contato para saber mais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383</Words>
  <Application>Microsoft Office PowerPoint</Application>
  <PresentationFormat>Personalizados</PresentationFormat>
  <Paragraphs>52</Paragraphs>
  <Slides>12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9" baseType="lpstr">
      <vt:lpstr>Neo Tech Bold</vt:lpstr>
      <vt:lpstr>Barlow Bold</vt:lpstr>
      <vt:lpstr>Aptos</vt:lpstr>
      <vt:lpstr>Barlow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Tecnologia da Informação Moderno Azul e Roxo</dc:title>
  <cp:lastModifiedBy>Gerard Belogildo</cp:lastModifiedBy>
  <cp:revision>3</cp:revision>
  <dcterms:created xsi:type="dcterms:W3CDTF">2006-08-16T00:00:00Z</dcterms:created>
  <dcterms:modified xsi:type="dcterms:W3CDTF">2026-02-20T10:07:46Z</dcterms:modified>
  <dc:identifier>DAHBv_JFegk</dc:identifier>
</cp:coreProperties>
</file>